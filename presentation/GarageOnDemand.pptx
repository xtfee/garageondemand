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1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E293B"/>
                </a:solidFill>
                <a:latin typeface="Calibri"/>
              </a:rPr>
              <a:t>Revenue this week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(EUR)</c:v>
                </c:pt>
              </c:strCache>
            </c:strRef>
          </c:tx>
          <c:spPr>
            <a:solidFill>
              <a:srgbClr val="4F46E5"/>
            </a:solidFill>
            <a:ln w="38100" cap="flat">
              <a:solidFill>
                <a:srgbClr val="4F46E5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4F46E5"/>
              </a:solidFill>
              <a:ln w="9525" cap="flat">
                <a:solidFill>
                  <a:srgbClr val="4F46E5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Sheet1!$A$2:$A$8</c:f>
              <c:multiLvlStrCache>
                <c:ptCount val="7"/>
                <c:lvl>
                  <c:pt idx="0">
                    <c:v>Mon</c:v>
                  </c:pt>
                  <c:pt idx="1">
                    <c:v>Tue</c:v>
                  </c:pt>
                  <c:pt idx="2">
                    <c:v>Wed</c:v>
                  </c:pt>
                  <c:pt idx="3">
                    <c:v>Thu</c:v>
                  </c:pt>
                  <c:pt idx="4">
                    <c:v>Fri</c:v>
                  </c:pt>
                  <c:pt idx="5">
                    <c:v>Sat</c:v>
                  </c:pt>
                  <c:pt idx="6">
                    <c:v>Sun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190</c:v>
                </c:pt>
                <c:pt idx="1">
                  <c:v>256</c:v>
                </c:pt>
                <c:pt idx="2">
                  <c:v>312</c:v>
                </c:pt>
                <c:pt idx="3">
                  <c:v>347</c:v>
                </c:pt>
                <c:pt idx="4">
                  <c:v>391</c:v>
                </c:pt>
                <c:pt idx="5">
                  <c:v>500</c:v>
                </c:pt>
                <c:pt idx="6">
                  <c:v>461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 everyone. We're presenting Garage OnDemand — a workshop reservation platform we built as a group project. Think of it as Airbnb but for mechanics: you book a fully-equipped garage by the hour or day instead of buying expensive tools yourself. We built it with Vue 3 on the frontend, Django REST Framework on the backend, plus a small machine-learning module that mines patterns from reservation history. Let us walk you through what it does.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Why does this matter? Three real problems. Most people don't have space at home for a hydraulic lift or a welder. Owning professional tools for occasional projects rarely pays off. And right now, booking a workshop usually means phone calls and paper schedules. The target users are hobbyists, DIY car owners, and small independent mechanics — people who need pro-grade equipment by the hour, not by the year.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platform handles three things end to end. Discover — you browse garages with real photos and filters. Reserve — you pick days and exact hours on a smart calendar. Pay — Stripe checkout, then you get an access PIN. On top of that there is a full admin panel with analytics and ML, which we'll show later in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layers. Frontend is Vue 3 with the Composition API, Vite as the build tool, Tailwind plus DaisyUI for styling, Chart.js for visualization, and Stripe.js Elements for the payment form. Backend is Python 3 and Django 6 with Django REST Framework, PostgreSQL as the database, django-allauth for the Google OAuth flow, and the official Stripe SDK. Data layer uses Pandas for processing, Mlxtend for Apriori association rules, and scikit-learn with Matplotlib for the decision tree.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how the pieces fit together. The Vue single-page app on port 5173 talks to the Django REST API on port 8000 over HTTP, using token authentication. Django persists everything to PostgreSQL. Three external integrations: Stripe in test mode for payments, Gmail SMTP for verification emails, and Google OAuth via allauth for one-click sign-in. All secrets — API keys, the database password, the email password — live in a gitignored .env.local file that python-dotenv loads at startup. Nothing sensitive is ever in the repo.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user journey is four steps and a new user can complete it in under a minute. Discover the garage on the offer page. Reserve a time on the booking screen. Pay through Stripe Elements with a 15-minute window. Then use the access code that appears in the dashboard. Let us zoom in on each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booking screen has two interactions. Drag across the month grid to pick a multi-day range, or pick a single day and drag on the hourly timeline to choose an exact time window. The server validates everything: no conflicts with existing reservations, no past dates, enforces the maximum-duration rule from the system config. Pricing switches automatically — per hour for short slots, per-day discounted rate for bookings of 24 hours or more. On the right is a mock of the timeline: past hours are grey, two busy hours are red, and the selected window is in indigo.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Payments use Stripe Elements. The frontend embeds Stripe's hosted credit-card form so card details never touch our server. The backend creates a PaymentIntent and returns the client secret. There's a 15-minute hold — if the user doesn't complete payment in time, the reservation auto-cancels and frees the slot. Cancellations more than 24 hours before the start get a full automatic refund through the Stripe Refund API. Users can also extend a confirmed reservation, with a follow-up Stripe payment for the additional hours. For the demo we'll use Stripe's test card: 4242 4242 4242 4242.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ways to sign in. Email plus password with a verification link, or Google OAuth via allauth. The user model has roles — client and admin. One subtle security touch we added: when a user PATCHes their own profile, the serializer explicitly ignores the role field, so a client can't promote themselves to admin by hand-crafting a request. There's a unit test that asserts this. Self-service: users can change their email — which triggers a re-verification — change their password, or delete their account with password confirmation.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client has a personal dashboard. They see their reservations split into upcoming and history, can filter by status, see a live countdown timer for any pending payment, reveal the access PIN after the booking is confirmed, extend an active reservation by hours or by a full day, edit their profile with required password confirmation, and see all their payments in a wallet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admin side there is full CRUD over six resources: garages, users, reservations, equipment, payments, and system configuration. The standout feature is the calendar view that shows a whole month per garage with color-coded availability — green free, light red partial, dark red fully booked. Admins can also emergency-cancel a reservation with a reason that the client sees as a notification, and mark customers who overstayed, which prevents them from booking again until cleared.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analytics page is a real business-intelligence dashboard. Revenue over time as a line chart, top-10 popularity ranking as a doughnut chart, and an occupancy heatmap broken down by weekday and hour. All filterable by date range and by garage equipment. The data here comes from the seeded database — about 1,500 historical reservations generated with intentional patterns the ML modules can then detect.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First machine learning feature: association rule mining with the Apriori algorithm, implemented via Mlxtend. The system encodes each historical reservation as a transaction of features — what equipment did the garage have, was it a weekend, was the booking longer than four hours. Apriori then finds frequent itemsets and generates rules with confidence and lift scores. The example shown is a real rule from the seeded data: when a garage has a two-post lift, there's an 80% chance the reservation runs longer than four hours, with a lift of 2.4 — meaning that's 2.4 times more likely than the base rate. Rules are sorted, paginated, and rendered in the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Second machine-learning feature: a decision tree for churn prediction, using scikit-learn's DecisionTreeClassifier. The classifier learns from confirmed versus cancelled reservations, with features like day of the week, start hour, and which equipment is present. Matplotlib renders the trained tree to a PNG, and the API returns it as a base64 data URI so the frontend can embed it directly without needing a separate image endpoint. You can also export the training dataset to CSV from the same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Both ML modules support what we call sandbox mode. You upload a CSV — a historical export, synthetic data, whatever — and the same pipeline runs entirely in memory, without touching the database. A yellow banner shows whenever you're in simulation mode so it's obvious. Useful for safe demos, for comparing two months by uploading each one, or for testing on synthetic datasets.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Quality wasn't an afterthought. We wrote 17 automated unit tests covering registration, login, token authentication, the role-escalation guard we mentioned earlier, phone-number validation, reservation overlap detection, past-date rejection, and the pricing calculation. A small batch script called testowanie.bat runs them all with color-coded output. Secrets all live in .env.local with an .env.example template committed for reviewers. And the whole project — database, migrations, seeded data, frontend, backend — bootstraps from a single install-and-run.bat script.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That's Garage OnDemand. Thanks for listening. We're happy to take questions, or — if you want — we can run a live demo right now. The code is on GitHub at the URL on screen, with the demo credentials and the Stripe test card listed below.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image" Target="../media/image-1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5486400" cy="5486400"/>
          </a:xfrm>
          <a:prstGeom prst="ellipse">
            <a:avLst/>
          </a:prstGeom>
          <a:solidFill>
            <a:srgbClr val="4F46E5">
              <a:alpha val="3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7432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GLogo"/>
          <p:cNvSpPr/>
          <p:nvPr/>
        </p:nvSpPr>
        <p:spPr>
          <a:xfrm>
            <a:off x="502920" y="457200"/>
            <a:ext cx="640080" cy="64008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GLogoText"/>
          <p:cNvSpPr/>
          <p:nvPr/>
        </p:nvSpPr>
        <p:spPr>
          <a:xfrm>
            <a:off x="502920" y="457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23444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PROJECT  · 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Workshop spaces on demand. Like Airbnb — for mechanics.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0292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0292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65176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1,500+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65176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80060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0060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TESTS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949440" y="3657600"/>
            <a:ext cx="2011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· Django · ML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949440" y="40690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02920" y="47548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Bartłomiej · Michał · Oscar    github.com/xtfee/GarageOnDemand</a:t>
            </a:r>
            <a:endParaRPr lang="en-US" sz="1000" dirty="0"/>
          </a:p>
        </p:txBody>
      </p:sp>
    </p:spTree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1200">
        <p159:morph option="byObject"/>
      </p:transition>
    </mc:Choice>
    <mc:Fallback>
      <p:transition xmlns:p14="http://schemas.microsoft.com/office/powerpoint/2010/main" spd="med" p14:dur="800">
        <p:fade/>
      </p:transition>
    </mc:Fallback>
  </mc:AlternateContent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THE PROBLEM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Mechanics need workspace they can’t afford to own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" y="1410919"/>
            <a:ext cx="332842" cy="33284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2801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space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160934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Apartments and small homes don't fit a lift, a pit, or a welder.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02920" y="224028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679" y="2371039"/>
            <a:ext cx="332842" cy="3328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240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Expensive tools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80160" y="256946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Owning pro equipment for occasional use rarely pays off.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502920" y="3200400"/>
            <a:ext cx="594360" cy="594360"/>
          </a:xfrm>
          <a:prstGeom prst="roundRect">
            <a:avLst>
              <a:gd name="adj" fmla="val 1230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679" y="3331159"/>
            <a:ext cx="332842" cy="33284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320040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Logistics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280160" y="3529584"/>
            <a:ext cx="4114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 time at a workshop usually means phone calls and paper schedules.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5760720" y="1234440"/>
            <a:ext cx="2926080" cy="3063240"/>
          </a:xfrm>
          <a:prstGeom prst="roundRect">
            <a:avLst>
              <a:gd name="adj" fmla="val 375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5943600" y="13716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IT'S FOR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5943600" y="1737360"/>
            <a:ext cx="2651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Hobbyists.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DIY car owners.</a:t>
            </a:r>
            <a:endParaRPr lang="en-US" sz="2000" dirty="0"/>
          </a:p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mechanics.</a:t>
            </a:r>
            <a:endParaRPr lang="en-US" sz="2000" dirty="0"/>
          </a:p>
        </p:txBody>
      </p:sp>
      <p:sp>
        <p:nvSpPr>
          <p:cNvPr id="21" name="Text 16"/>
          <p:cNvSpPr/>
          <p:nvPr/>
        </p:nvSpPr>
        <p:spPr>
          <a:xfrm>
            <a:off x="5943600" y="338328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need pro-grade equipment by the hour, not by the year.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1200">
        <p159:morph option="byObject"/>
      </p:transition>
    </mc:Choice>
    <mc:Fallback>
      <p:transition xmlns:p14="http://schemas.microsoft.com/office/powerpoint/2010/main" spd="med" p14:dur="800">
        <p:fade/>
      </p:transition>
    </mc:Fallback>
  </mc:AlternateContent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THE SOLUTION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marketplace for workshop bays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10058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rentals of fully-equipped garages, with online booking, payment and an access PIN.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02920" y="1600200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3152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939442"/>
            <a:ext cx="281635" cy="281635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3152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31520" y="2743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real garages, filter by city, price and equipment.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337560" y="1600200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6616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6802" y="1939442"/>
            <a:ext cx="281635" cy="28163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566160" y="2743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calendar + hourly timeline with live conflict checks.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72200" y="1600200"/>
            <a:ext cx="2606040" cy="269748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400800" y="18288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1442" y="1939442"/>
            <a:ext cx="281635" cy="28163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242316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&amp; go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00800" y="2743200"/>
            <a:ext cx="2148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checkout, instant access PIN, refunds for early cancels.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502920" y="4480560"/>
            <a:ext cx="8183880" cy="384048"/>
          </a:xfrm>
          <a:prstGeom prst="roundRect">
            <a:avLst>
              <a:gd name="adj" fmla="val 1428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85800" y="4507992"/>
            <a:ext cx="7863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on the operator side: full admin tools + a BI/ML dashboard for revenue, popularity, and churn prediction.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1200">
        <p159:morph option="byObject"/>
      </p:transition>
    </mc:Choice>
    <mc:Fallback>
      <p:transition xmlns:p14="http://schemas.microsoft.com/office/powerpoint/2010/main" spd="med" p14:dur="800">
        <p:fade/>
      </p:transition>
    </mc:Fallback>
  </mc:AlternateContent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TECHNOLOGY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layers, modern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630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221" y="158374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7240" y="219456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(Composition API)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 7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 + DaisyUI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+ vue-chartjs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Stripe.js Elements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337560" y="123444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566160" y="14630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6861" y="158374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5196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611880" y="219456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 · Django 6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REST Framework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django-allauth (Google OAuth)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SDK · drf-spectacular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172200" y="1234440"/>
            <a:ext cx="2606040" cy="3337560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0" y="14630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1501" y="158374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7086600" y="1554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ML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46520" y="2194560"/>
            <a:ext cx="214884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Mlxtend — Apriori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— Decision Tree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●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 — tree rendering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1200">
        <p159:morph option="byObject"/>
      </p:transition>
    </mc:Choice>
    <mc:Fallback>
      <p:transition xmlns:p14="http://schemas.microsoft.com/office/powerpoint/2010/main" spd="med" p14:dur="800">
        <p:fade/>
      </p:transition>
    </mc:Fallback>
  </mc:AlternateContent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ARCHITECTURE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pieces talk to each other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55448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4F46E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4" y="192938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847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3 + Vite SPA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32588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localhost:5173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731520" y="24231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· Stripe.js · Drag-drop calendar · Chart.js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383280" y="1554480"/>
            <a:ext cx="23774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7C3AE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6118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464" y="1929384"/>
            <a:ext cx="256032" cy="25603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06240" y="1847088"/>
            <a:ext cx="1417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+ DRF API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206240" y="212140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127.0.0.1:8000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611880" y="24231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auth · ML endpoints · Swagger · Allauth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355080" y="1554480"/>
            <a:ext cx="233172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83680" y="18288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4264" y="1929384"/>
            <a:ext cx="256032" cy="25603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7178040" y="1847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178040" y="21214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garaz_db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583680" y="2423160"/>
            <a:ext cx="1874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Garages · reservations · payments · users</a:t>
            </a:r>
            <a:endParaRPr lang="en-US" sz="10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4640" y="2057400"/>
            <a:ext cx="365760" cy="365760"/>
          </a:xfrm>
          <a:prstGeom prst="rect">
            <a:avLst/>
          </a:prstGeom>
        </p:spPr>
      </p:pic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2057400"/>
            <a:ext cx="365760" cy="365760"/>
          </a:xfrm>
          <a:prstGeom prst="rect">
            <a:avLst/>
          </a:prstGeom>
        </p:spPr>
      </p:pic>
      <p:sp>
        <p:nvSpPr>
          <p:cNvPr id="26" name="Shape 19"/>
          <p:cNvSpPr/>
          <p:nvPr/>
        </p:nvSpPr>
        <p:spPr>
          <a:xfrm>
            <a:off x="502920" y="35204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667512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8096" y="3803904"/>
            <a:ext cx="256032" cy="256032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1216152" y="36850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200" dirty="0"/>
          </a:p>
        </p:txBody>
      </p:sp>
      <p:sp>
        <p:nvSpPr>
          <p:cNvPr id="30" name="Text 22"/>
          <p:cNvSpPr/>
          <p:nvPr/>
        </p:nvSpPr>
        <p:spPr>
          <a:xfrm>
            <a:off x="1216152" y="39776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Test-mode payments + refunds</a:t>
            </a:r>
            <a:endParaRPr lang="en-US" sz="900" dirty="0"/>
          </a:p>
        </p:txBody>
      </p:sp>
      <p:sp>
        <p:nvSpPr>
          <p:cNvPr id="31" name="Shape 23"/>
          <p:cNvSpPr/>
          <p:nvPr/>
        </p:nvSpPr>
        <p:spPr>
          <a:xfrm>
            <a:off x="2606040" y="35204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Shape 24"/>
          <p:cNvSpPr/>
          <p:nvPr/>
        </p:nvSpPr>
        <p:spPr>
          <a:xfrm>
            <a:off x="2770632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71216" y="3803904"/>
            <a:ext cx="256032" cy="256032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3319272" y="36850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SMTP</a:t>
            </a:r>
            <a:endParaRPr lang="en-US" sz="1200" dirty="0"/>
          </a:p>
        </p:txBody>
      </p:sp>
      <p:sp>
        <p:nvSpPr>
          <p:cNvPr id="35" name="Text 26"/>
          <p:cNvSpPr/>
          <p:nvPr/>
        </p:nvSpPr>
        <p:spPr>
          <a:xfrm>
            <a:off x="3319272" y="39776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Verification + change emails</a:t>
            </a:r>
            <a:endParaRPr lang="en-US" sz="900" dirty="0"/>
          </a:p>
        </p:txBody>
      </p:sp>
      <p:sp>
        <p:nvSpPr>
          <p:cNvPr id="36" name="Shape 27"/>
          <p:cNvSpPr/>
          <p:nvPr/>
        </p:nvSpPr>
        <p:spPr>
          <a:xfrm>
            <a:off x="4709160" y="35204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28"/>
          <p:cNvSpPr/>
          <p:nvPr/>
        </p:nvSpPr>
        <p:spPr>
          <a:xfrm>
            <a:off x="4873752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74336" y="3803904"/>
            <a:ext cx="256032" cy="256032"/>
          </a:xfrm>
          <a:prstGeom prst="rect">
            <a:avLst/>
          </a:prstGeom>
        </p:spPr>
      </p:pic>
      <p:sp>
        <p:nvSpPr>
          <p:cNvPr id="39" name="Text 29"/>
          <p:cNvSpPr/>
          <p:nvPr/>
        </p:nvSpPr>
        <p:spPr>
          <a:xfrm>
            <a:off x="5422392" y="36850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OAuth</a:t>
            </a:r>
            <a:endParaRPr lang="en-US" sz="1200" dirty="0"/>
          </a:p>
        </p:txBody>
      </p:sp>
      <p:sp>
        <p:nvSpPr>
          <p:cNvPr id="40" name="Text 30"/>
          <p:cNvSpPr/>
          <p:nvPr/>
        </p:nvSpPr>
        <p:spPr>
          <a:xfrm>
            <a:off x="5422392" y="39776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One-click sign in</a:t>
            </a:r>
            <a:endParaRPr lang="en-US" sz="900" dirty="0"/>
          </a:p>
        </p:txBody>
      </p:sp>
      <p:sp>
        <p:nvSpPr>
          <p:cNvPr id="41" name="Shape 31"/>
          <p:cNvSpPr/>
          <p:nvPr/>
        </p:nvSpPr>
        <p:spPr>
          <a:xfrm>
            <a:off x="6812280" y="3520440"/>
            <a:ext cx="196596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2" name="Shape 32"/>
          <p:cNvSpPr/>
          <p:nvPr/>
        </p:nvSpPr>
        <p:spPr>
          <a:xfrm>
            <a:off x="6976872" y="37033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077456" y="3803904"/>
            <a:ext cx="256032" cy="256032"/>
          </a:xfrm>
          <a:prstGeom prst="rect">
            <a:avLst/>
          </a:prstGeom>
        </p:spPr>
      </p:pic>
      <p:sp>
        <p:nvSpPr>
          <p:cNvPr id="44" name="Text 33"/>
          <p:cNvSpPr/>
          <p:nvPr/>
        </p:nvSpPr>
        <p:spPr>
          <a:xfrm>
            <a:off x="7525512" y="3685032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.env.local</a:t>
            </a:r>
            <a:endParaRPr lang="en-US" sz="1200" dirty="0"/>
          </a:p>
        </p:txBody>
      </p:sp>
      <p:sp>
        <p:nvSpPr>
          <p:cNvPr id="45" name="Text 34"/>
          <p:cNvSpPr/>
          <p:nvPr/>
        </p:nvSpPr>
        <p:spPr>
          <a:xfrm>
            <a:off x="7525512" y="3977640"/>
            <a:ext cx="1234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via python-dotenv</a:t>
            </a:r>
            <a:endParaRPr lang="en-US" sz="900" dirty="0"/>
          </a:p>
        </p:txBody>
      </p:sp>
      <p:sp>
        <p:nvSpPr>
          <p:cNvPr id="46" name="Text 35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  <p:sp>
        <p:nvSpPr>
          <p:cNvPr id="47" name="Text 36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1200">
        <p159:morph option="byObject"/>
      </p:transition>
    </mc:Choice>
    <mc:Fallback>
      <p:transition xmlns:p14="http://schemas.microsoft.com/office/powerpoint/2010/main" spd="med" p14:dur="800">
        <p:fade/>
      </p:transition>
    </mc:Fallback>
  </mc:AlternateContent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USER JOURNEY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discovery to keys in hand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298448" y="1188720"/>
            <a:ext cx="329184" cy="32918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98448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1097280" y="17830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8214" y="1944014"/>
            <a:ext cx="409651" cy="40965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0292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4008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cards. Filter by city, price, equipment.</a:t>
            </a:r>
            <a:endParaRPr lang="en-US" sz="11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8880" y="2560320"/>
            <a:ext cx="228600" cy="2286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3447288" y="1188720"/>
            <a:ext cx="329184" cy="32918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447288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Shape 12"/>
          <p:cNvSpPr/>
          <p:nvPr/>
        </p:nvSpPr>
        <p:spPr>
          <a:xfrm>
            <a:off x="2651760" y="14630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246120" y="17830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054" y="1944014"/>
            <a:ext cx="409651" cy="40965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265176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278892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days on calendar, drag hours on timeline.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560320"/>
            <a:ext cx="228600" cy="228600"/>
          </a:xfrm>
          <a:prstGeom prst="rect">
            <a:avLst/>
          </a:prstGeom>
        </p:spPr>
      </p:pic>
      <p:sp>
        <p:nvSpPr>
          <p:cNvPr id="22" name="Shape 16"/>
          <p:cNvSpPr/>
          <p:nvPr/>
        </p:nvSpPr>
        <p:spPr>
          <a:xfrm>
            <a:off x="5596128" y="1188720"/>
            <a:ext cx="329184" cy="32918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596128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Shape 18"/>
          <p:cNvSpPr/>
          <p:nvPr/>
        </p:nvSpPr>
        <p:spPr>
          <a:xfrm>
            <a:off x="4800600" y="14630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394960" y="17830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5894" y="1944014"/>
            <a:ext cx="409651" cy="409651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80060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600" dirty="0"/>
          </a:p>
        </p:txBody>
      </p:sp>
      <p:sp>
        <p:nvSpPr>
          <p:cNvPr id="28" name="Text 21"/>
          <p:cNvSpPr/>
          <p:nvPr/>
        </p:nvSpPr>
        <p:spPr>
          <a:xfrm>
            <a:off x="493776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Elements. 15 min to complete.</a:t>
            </a:r>
            <a:endParaRPr lang="en-US" sz="11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2560320"/>
            <a:ext cx="228600" cy="228600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7744968" y="1188720"/>
            <a:ext cx="329184" cy="329184"/>
          </a:xfrm>
          <a:prstGeom prst="ellipse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7744968" y="11887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2" name="Shape 24"/>
          <p:cNvSpPr/>
          <p:nvPr/>
        </p:nvSpPr>
        <p:spPr>
          <a:xfrm>
            <a:off x="6949440" y="1463040"/>
            <a:ext cx="1920240" cy="246888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33" name="Shape 25"/>
          <p:cNvSpPr/>
          <p:nvPr/>
        </p:nvSpPr>
        <p:spPr>
          <a:xfrm>
            <a:off x="7543800" y="1783080"/>
            <a:ext cx="731520" cy="731520"/>
          </a:xfrm>
          <a:prstGeom prst="roundRect">
            <a:avLst>
              <a:gd name="adj" fmla="val 10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04734" y="1944014"/>
            <a:ext cx="409651" cy="409651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949440" y="265176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</a:t>
            </a:r>
            <a:endParaRPr lang="en-US" sz="1600" dirty="0"/>
          </a:p>
        </p:txBody>
      </p:sp>
      <p:sp>
        <p:nvSpPr>
          <p:cNvPr id="36" name="Text 27"/>
          <p:cNvSpPr/>
          <p:nvPr/>
        </p:nvSpPr>
        <p:spPr>
          <a:xfrm>
            <a:off x="7086600" y="3017520"/>
            <a:ext cx="1645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PIN reveals in the dashboard.</a:t>
            </a:r>
            <a:endParaRPr lang="en-US" sz="1100" dirty="0"/>
          </a:p>
        </p:txBody>
      </p:sp>
      <p:sp>
        <p:nvSpPr>
          <p:cNvPr id="37" name="Text 28"/>
          <p:cNvSpPr/>
          <p:nvPr/>
        </p:nvSpPr>
        <p:spPr>
          <a:xfrm>
            <a:off x="502920" y="4297680"/>
            <a:ext cx="8183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Time-to-first-reservation under 60 seconds.</a:t>
            </a:r>
            <a:endParaRPr lang="en-US" sz="1200" dirty="0"/>
          </a:p>
        </p:txBody>
      </p:sp>
      <p:sp>
        <p:nvSpPr>
          <p:cNvPr id="38" name="Text 29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1200">
        <p159:morph option="byObject"/>
      </p:transition>
    </mc:Choice>
    <mc:Fallback>
      <p:transition xmlns:p14="http://schemas.microsoft.com/office/powerpoint/2010/main" spd="med" p14:dur="800">
        <p:fade/>
      </p:transition>
    </mc:Fallback>
  </mc:AlternateContent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BOOKING ENGINE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calendar + hourly timeline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38074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34416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Drag-select multiple days on the month grid.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02920" y="20574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04" y="2157984"/>
            <a:ext cx="256032" cy="25603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12140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timeline lets you drag a range within a single day.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02920" y="28346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935224"/>
            <a:ext cx="256032" cy="256032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43000" y="289864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validates: no conflicts, no past dates, max-duration rule.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502920" y="36118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" y="3712464"/>
            <a:ext cx="256032" cy="25603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43000" y="36758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auto-switches: per-hour for short slots, per-day discount for 24h+.</a:t>
            </a:r>
            <a:endParaRPr lang="en-US" sz="1200" dirty="0"/>
          </a:p>
        </p:txBody>
      </p:sp>
      <p:sp>
        <p:nvSpPr>
          <p:cNvPr id="18" name="Shape 12"/>
          <p:cNvSpPr/>
          <p:nvPr/>
        </p:nvSpPr>
        <p:spPr>
          <a:xfrm>
            <a:off x="5029200" y="1280160"/>
            <a:ext cx="3657600" cy="310896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5212080" y="14173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Wed · 24 hours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521208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534924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548640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62356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76072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89788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603504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6172200" y="1783080"/>
            <a:ext cx="118872" cy="457200"/>
          </a:xfrm>
          <a:prstGeom prst="rect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30936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644652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58368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720840" y="1783080"/>
            <a:ext cx="118872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6858000" y="1783080"/>
            <a:ext cx="118872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699516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7132320" y="1783080"/>
            <a:ext cx="118872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7269480" y="1783080"/>
            <a:ext cx="118872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7406640" y="1783080"/>
            <a:ext cx="118872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543800" y="1783080"/>
            <a:ext cx="118872" cy="4572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768096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781812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795528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5"/>
          <p:cNvSpPr/>
          <p:nvPr/>
        </p:nvSpPr>
        <p:spPr>
          <a:xfrm>
            <a:off x="809244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822960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Shape 37"/>
          <p:cNvSpPr/>
          <p:nvPr/>
        </p:nvSpPr>
        <p:spPr>
          <a:xfrm>
            <a:off x="8366760" y="1783080"/>
            <a:ext cx="118872" cy="45720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5212080" y="22585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800" dirty="0"/>
          </a:p>
        </p:txBody>
      </p:sp>
      <p:sp>
        <p:nvSpPr>
          <p:cNvPr id="45" name="Text 39"/>
          <p:cNvSpPr/>
          <p:nvPr/>
        </p:nvSpPr>
        <p:spPr>
          <a:xfrm>
            <a:off x="6766560" y="22585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46" name="Text 40"/>
          <p:cNvSpPr/>
          <p:nvPr/>
        </p:nvSpPr>
        <p:spPr>
          <a:xfrm>
            <a:off x="8229600" y="2258568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47" name="Shape 41"/>
          <p:cNvSpPr/>
          <p:nvPr/>
        </p:nvSpPr>
        <p:spPr>
          <a:xfrm>
            <a:off x="5257800" y="2743200"/>
            <a:ext cx="164592" cy="164592"/>
          </a:xfrm>
          <a:prstGeom prst="ellipse">
            <a:avLst/>
          </a:prstGeom>
          <a:solidFill>
            <a:srgbClr val="CBD5E1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5486400" y="2697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</a:t>
            </a:r>
            <a:endParaRPr lang="en-US" sz="1100" dirty="0"/>
          </a:p>
        </p:txBody>
      </p:sp>
      <p:sp>
        <p:nvSpPr>
          <p:cNvPr id="49" name="Shape 43"/>
          <p:cNvSpPr/>
          <p:nvPr/>
        </p:nvSpPr>
        <p:spPr>
          <a:xfrm>
            <a:off x="5257800" y="3108960"/>
            <a:ext cx="164592" cy="164592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5486400" y="30632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Busy</a:t>
            </a:r>
            <a:endParaRPr lang="en-US" sz="1100" dirty="0"/>
          </a:p>
        </p:txBody>
      </p:sp>
      <p:sp>
        <p:nvSpPr>
          <p:cNvPr id="51" name="Shape 45"/>
          <p:cNvSpPr/>
          <p:nvPr/>
        </p:nvSpPr>
        <p:spPr>
          <a:xfrm>
            <a:off x="5257800" y="3474720"/>
            <a:ext cx="164592" cy="164592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2" name="Text 46"/>
          <p:cNvSpPr/>
          <p:nvPr/>
        </p:nvSpPr>
        <p:spPr>
          <a:xfrm>
            <a:off x="5486400" y="342900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selection</a:t>
            </a:r>
            <a:endParaRPr lang="en-US" sz="1100" dirty="0"/>
          </a:p>
        </p:txBody>
      </p:sp>
      <p:sp>
        <p:nvSpPr>
          <p:cNvPr id="53" name="Shape 47"/>
          <p:cNvSpPr/>
          <p:nvPr/>
        </p:nvSpPr>
        <p:spPr>
          <a:xfrm>
            <a:off x="5257800" y="3840480"/>
            <a:ext cx="164592" cy="164592"/>
          </a:xfrm>
          <a:prstGeom prst="ellipse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48"/>
          <p:cNvSpPr/>
          <p:nvPr/>
        </p:nvSpPr>
        <p:spPr>
          <a:xfrm>
            <a:off x="5486400" y="3794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</a:t>
            </a:r>
            <a:endParaRPr lang="en-US" sz="1100" dirty="0"/>
          </a:p>
        </p:txBody>
      </p:sp>
      <p:sp>
        <p:nvSpPr>
          <p:cNvPr id="55" name="Shape 49"/>
          <p:cNvSpPr/>
          <p:nvPr/>
        </p:nvSpPr>
        <p:spPr>
          <a:xfrm>
            <a:off x="7132320" y="3200400"/>
            <a:ext cx="1371600" cy="960120"/>
          </a:xfrm>
          <a:prstGeom prst="roundRect">
            <a:avLst>
              <a:gd name="adj" fmla="val 761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56" name="Text 50"/>
          <p:cNvSpPr/>
          <p:nvPr/>
        </p:nvSpPr>
        <p:spPr>
          <a:xfrm>
            <a:off x="7223760" y="3273552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PAY</a:t>
            </a:r>
            <a:endParaRPr lang="en-US" sz="900" dirty="0"/>
          </a:p>
        </p:txBody>
      </p:sp>
      <p:sp>
        <p:nvSpPr>
          <p:cNvPr id="57" name="Text 51"/>
          <p:cNvSpPr/>
          <p:nvPr/>
        </p:nvSpPr>
        <p:spPr>
          <a:xfrm>
            <a:off x="7223760" y="349300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€118</a:t>
            </a:r>
            <a:endParaRPr lang="en-US" sz="2200" dirty="0"/>
          </a:p>
        </p:txBody>
      </p:sp>
      <p:sp>
        <p:nvSpPr>
          <p:cNvPr id="58" name="Text 52"/>
          <p:cNvSpPr/>
          <p:nvPr/>
        </p:nvSpPr>
        <p:spPr>
          <a:xfrm>
            <a:off x="7223760" y="3950208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h × €30/h</a:t>
            </a:r>
            <a:endParaRPr lang="en-US" sz="900" dirty="0"/>
          </a:p>
        </p:txBody>
      </p:sp>
      <p:sp>
        <p:nvSpPr>
          <p:cNvPr id="59" name="Text 53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  <p:sp>
        <p:nvSpPr>
          <p:cNvPr id="60" name="Text 54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1200">
        <p159:morph option="byObject"/>
      </p:transition>
    </mc:Choice>
    <mc:Fallback>
      <p:transition xmlns:p14="http://schemas.microsoft.com/office/powerpoint/2010/main" spd="med" p14:dur="800">
        <p:fade/>
      </p:transition>
    </mc:Fallback>
  </mc:AlternateContent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PAYMENTS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Elements + a 15-minute window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3562" y="1390802"/>
            <a:ext cx="281635" cy="28163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2801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Test-mode integration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88720" y="16093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Stripe.js Elements on the frontend; PaymentIntent on the backend.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02920" y="2057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562" y="2168042"/>
            <a:ext cx="281635" cy="28163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8872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15-minute hold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1188720" y="238658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Pending reservations auto-cancel if not paid in time.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283464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62" y="2945282"/>
            <a:ext cx="281635" cy="28163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28346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logic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88720" y="316382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 &gt; 24h before start → automatic refund. Closer → no refund.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02920" y="36118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62" y="3722522"/>
            <a:ext cx="281635" cy="281635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188720" y="3611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extension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1188720" y="39410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by hours or a day with a follow-up Stripe payment.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212080" y="1280160"/>
            <a:ext cx="3520440" cy="3200400"/>
          </a:xfrm>
          <a:prstGeom prst="roundRect">
            <a:avLst>
              <a:gd name="adj" fmla="val 3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486400" y="1508760"/>
            <a:ext cx="2971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 #523</a:t>
            </a:r>
            <a:endParaRPr lang="en-US" sz="1000" dirty="0"/>
          </a:p>
        </p:txBody>
      </p:sp>
      <p:sp>
        <p:nvSpPr>
          <p:cNvPr id="24" name="Text 18"/>
          <p:cNvSpPr/>
          <p:nvPr/>
        </p:nvSpPr>
        <p:spPr>
          <a:xfrm>
            <a:off x="5486400" y="1783080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€59.00</a:t>
            </a:r>
            <a:endParaRPr lang="en-US" sz="3000" dirty="0"/>
          </a:p>
        </p:txBody>
      </p:sp>
      <p:sp>
        <p:nvSpPr>
          <p:cNvPr id="25" name="Text 19"/>
          <p:cNvSpPr/>
          <p:nvPr/>
        </p:nvSpPr>
        <p:spPr>
          <a:xfrm>
            <a:off x="5486400" y="246888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NUMBER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5486400" y="269748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4242 4242 4242 4242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5486400" y="3154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EXPIRY</a:t>
            </a:r>
            <a:endParaRPr lang="en-US" sz="900" dirty="0"/>
          </a:p>
        </p:txBody>
      </p:sp>
      <p:sp>
        <p:nvSpPr>
          <p:cNvPr id="28" name="Text 22"/>
          <p:cNvSpPr/>
          <p:nvPr/>
        </p:nvSpPr>
        <p:spPr>
          <a:xfrm>
            <a:off x="548640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12/27</a:t>
            </a:r>
            <a:endParaRPr lang="en-US" sz="1400" dirty="0"/>
          </a:p>
        </p:txBody>
      </p:sp>
      <p:sp>
        <p:nvSpPr>
          <p:cNvPr id="29" name="Text 23"/>
          <p:cNvSpPr/>
          <p:nvPr/>
        </p:nvSpPr>
        <p:spPr>
          <a:xfrm>
            <a:off x="6858000" y="3154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CVC</a:t>
            </a:r>
            <a:endParaRPr lang="en-US" sz="900" dirty="0"/>
          </a:p>
        </p:txBody>
      </p:sp>
      <p:sp>
        <p:nvSpPr>
          <p:cNvPr id="30" name="Text 24"/>
          <p:cNvSpPr/>
          <p:nvPr/>
        </p:nvSpPr>
        <p:spPr>
          <a:xfrm>
            <a:off x="6858000" y="33375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123</a:t>
            </a:r>
            <a:endParaRPr lang="en-US" sz="1400" dirty="0"/>
          </a:p>
        </p:txBody>
      </p:sp>
      <p:sp>
        <p:nvSpPr>
          <p:cNvPr id="31" name="Shape 25"/>
          <p:cNvSpPr/>
          <p:nvPr/>
        </p:nvSpPr>
        <p:spPr>
          <a:xfrm>
            <a:off x="5486400" y="3794760"/>
            <a:ext cx="29718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5486400" y="3794760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€59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  <p:sp>
        <p:nvSpPr>
          <p:cNvPr id="34" name="Text 28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1200">
        <p159:morph option="byObject"/>
      </p:transition>
    </mc:Choice>
    <mc:Fallback>
      <p:transition xmlns:p14="http://schemas.microsoft.com/office/powerpoint/2010/main" spd="med" p14:dur="800">
        <p:fade/>
      </p:transition>
    </mc:Fallback>
  </mc:AlternateContent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ACCOUNTS &amp; AUTH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verification, Google OAuth, profile self-service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2162" y="1665122"/>
            <a:ext cx="281635" cy="28163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1732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 with email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417320" y="1901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stays inactive until the verification link is clicked. In DEBUG mode the link is also printed to the Django console.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663440" y="128016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892040" y="155448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02682" y="1665122"/>
            <a:ext cx="281635" cy="28163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57784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with Google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5577840" y="190195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Django-allauth handles OAuth. social_login_success bridges Django session to a DRF token, frontend lands on /auth-callback.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0292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731520" y="3200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62" y="3311042"/>
            <a:ext cx="281635" cy="28163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41732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&amp; guards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1417320" y="35478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/ admin roles. UserSerializer ignores role updates on the profile endpoint to prevent privilege escalation.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892040" y="3200400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02682" y="3311042"/>
            <a:ext cx="281635" cy="281635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5577840" y="32004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5577840" y="3547872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email with re-verification, change password, delete account (password-confirmed).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  <p:sp>
        <p:nvSpPr>
          <p:cNvPr id="27" name="Text 21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1200">
        <p159:morph option="byObject"/>
      </p:transition>
    </mc:Choice>
    <mc:Fallback>
      <p:transition xmlns:p14="http://schemas.microsoft.com/office/powerpoint/2010/main" spd="med" p14:dur="800">
        <p:fade/>
      </p:transition>
    </mc:Fallback>
  </mc:AlternateContent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CLIENT DASHBOARD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place for everything the client owns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3504" y="1289304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43000" y="1188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1143000" y="14904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Upcoming / history tabs · filter by status.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4024" y="1289304"/>
            <a:ext cx="256032" cy="25603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303520" y="1188720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countdown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303520" y="1490472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 timer for the 15-min payment window.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02920" y="2267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504" y="2368296"/>
            <a:ext cx="256032" cy="25603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43000" y="22677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code</a:t>
            </a:r>
            <a:endParaRPr lang="en-US" sz="1300" dirty="0"/>
          </a:p>
        </p:txBody>
      </p:sp>
      <p:sp>
        <p:nvSpPr>
          <p:cNvPr id="17" name="Text 12"/>
          <p:cNvSpPr/>
          <p:nvPr/>
        </p:nvSpPr>
        <p:spPr>
          <a:xfrm>
            <a:off x="1143000" y="256946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6-digit PIN revealed after payment confirms.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663440" y="2267712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4024" y="2368296"/>
            <a:ext cx="256032" cy="25603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303520" y="2267712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reservation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5303520" y="2569464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hours or a day, pay the difference via Stripe.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502920" y="33467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504" y="3447288"/>
            <a:ext cx="256032" cy="256032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43000" y="33467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&amp; security</a:t>
            </a:r>
            <a:endParaRPr lang="en-US" sz="1300" dirty="0"/>
          </a:p>
        </p:txBody>
      </p:sp>
      <p:sp>
        <p:nvSpPr>
          <p:cNvPr id="25" name="Text 18"/>
          <p:cNvSpPr/>
          <p:nvPr/>
        </p:nvSpPr>
        <p:spPr>
          <a:xfrm>
            <a:off x="1143000" y="364845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change with re-verification, password change, account delete.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663440" y="3346704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4024" y="3447288"/>
            <a:ext cx="256032" cy="25603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303520" y="3346704"/>
            <a:ext cx="3383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Wallet view</a:t>
            </a:r>
            <a:endParaRPr lang="en-US" sz="1300" dirty="0"/>
          </a:p>
        </p:txBody>
      </p:sp>
      <p:sp>
        <p:nvSpPr>
          <p:cNvPr id="29" name="Text 21"/>
          <p:cNvSpPr/>
          <p:nvPr/>
        </p:nvSpPr>
        <p:spPr>
          <a:xfrm>
            <a:off x="5303520" y="3648456"/>
            <a:ext cx="3383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history with totals.</a:t>
            </a:r>
            <a:endParaRPr lang="en-US" sz="1100" dirty="0"/>
          </a:p>
        </p:txBody>
      </p:sp>
      <p:sp>
        <p:nvSpPr>
          <p:cNvPr id="30" name="Text 22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  <p:sp>
        <p:nvSpPr>
          <p:cNvPr id="31" name="Text 23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1200">
        <p159:morph option="byObject"/>
      </p:transition>
    </mc:Choice>
    <mc:Fallback>
      <p:transition xmlns:p14="http://schemas.microsoft.com/office/powerpoint/2010/main" spd="med" p14:dur="800">
        <p:fade/>
      </p:transition>
    </mc:Fallback>
  </mc:AlternateContent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ADMIN PANEL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operator control + an availability calendar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1887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85800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47218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13716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Garages CRUD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19019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Name, address, hourly/daily price, equipment, photo, active flag.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1887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474720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5304" y="1472184"/>
            <a:ext cx="256032" cy="25603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69080" y="13716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474720" y="19019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/ block, edit, hand-create with a chosen role.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080760" y="118872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63640" y="13716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1472184"/>
            <a:ext cx="256032" cy="25603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858000" y="137160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263640" y="190195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status, emergency cancel with reason, mark overstays.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502920" y="27432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85800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026664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2926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view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685800" y="34564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overview per garage: free / partial / full color coding.</a:t>
            </a:r>
            <a:endParaRPr lang="en-US" sz="1100" dirty="0"/>
          </a:p>
        </p:txBody>
      </p:sp>
      <p:sp>
        <p:nvSpPr>
          <p:cNvPr id="26" name="Shape 20"/>
          <p:cNvSpPr/>
          <p:nvPr/>
        </p:nvSpPr>
        <p:spPr>
          <a:xfrm>
            <a:off x="3291840" y="27432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474720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5304" y="3026664"/>
            <a:ext cx="256032" cy="256032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069080" y="2926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config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3474720" y="34564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hours, max active reservations, max duration, base prices.</a:t>
            </a:r>
            <a:endParaRPr lang="en-US" sz="1100" dirty="0"/>
          </a:p>
        </p:txBody>
      </p:sp>
      <p:sp>
        <p:nvSpPr>
          <p:cNvPr id="31" name="Shape 24"/>
          <p:cNvSpPr/>
          <p:nvPr/>
        </p:nvSpPr>
        <p:spPr>
          <a:xfrm>
            <a:off x="6080760" y="2743200"/>
            <a:ext cx="269748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263640" y="29260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224" y="3026664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858000" y="2926080"/>
            <a:ext cx="1783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Equipment catalog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263640" y="3456432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tools that garages can be tagged with.</a:t>
            </a:r>
            <a:endParaRPr lang="en-US" sz="1100" dirty="0"/>
          </a:p>
        </p:txBody>
      </p:sp>
      <p:sp>
        <p:nvSpPr>
          <p:cNvPr id="36" name="Text 28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1200">
        <p159:morph option="byObject"/>
      </p:transition>
    </mc:Choice>
    <mc:Fallback>
      <p:transition xmlns:p14="http://schemas.microsoft.com/office/powerpoint/2010/main" spd="med" p14:dur="800">
        <p:fade/>
      </p:transition>
    </mc:Fallback>
  </mc:AlternateContent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ANALYTICS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Revenue, popularity, and an occupancy heatmap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02920" y="1325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Filter by date range and equipment.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7830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Revenue line chart over time.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2402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Top-10 popularity ranking (doughnut).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26974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Weekday × hour heatmap shows when bays get hot.</a:t>
            </a:r>
            <a:endParaRPr lang="en-US" sz="12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4572000" y="1188720"/>
          <a:ext cx="4114800" cy="1920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1" name="Text 8"/>
          <p:cNvSpPr/>
          <p:nvPr/>
        </p:nvSpPr>
        <p:spPr>
          <a:xfrm>
            <a:off x="4572000" y="29718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Occupancy heatmap (day × hour)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26280" y="322783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736592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901184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065776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230368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394960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59552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724144" y="3246120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888736" y="3246120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6053328" y="3246120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217920" y="324612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382512" y="324612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547104" y="324612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711696" y="324612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6876288" y="324612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040880" y="324612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05472" y="3246120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70064" y="3246120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534656" y="3246120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699248" y="3246120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7863840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028432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193024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357616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522208" y="324612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4526280" y="339242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4736592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4901184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5065776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5230368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5394960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559552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724144" y="3410712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5" name="Shape 42"/>
          <p:cNvSpPr/>
          <p:nvPr/>
        </p:nvSpPr>
        <p:spPr>
          <a:xfrm>
            <a:off x="5888736" y="3410712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053328" y="3410712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6217920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382512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6547104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6711696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6876288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2" name="Shape 49"/>
          <p:cNvSpPr/>
          <p:nvPr/>
        </p:nvSpPr>
        <p:spPr>
          <a:xfrm>
            <a:off x="7040880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3" name="Shape 50"/>
          <p:cNvSpPr/>
          <p:nvPr/>
        </p:nvSpPr>
        <p:spPr>
          <a:xfrm>
            <a:off x="7205472" y="341071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370064" y="3410712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7534656" y="3410712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56" name="Shape 53"/>
          <p:cNvSpPr/>
          <p:nvPr/>
        </p:nvSpPr>
        <p:spPr>
          <a:xfrm>
            <a:off x="7699248" y="3410712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57" name="Shape 54"/>
          <p:cNvSpPr/>
          <p:nvPr/>
        </p:nvSpPr>
        <p:spPr>
          <a:xfrm>
            <a:off x="7863840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8028432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8193024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0" name="Shape 57"/>
          <p:cNvSpPr/>
          <p:nvPr/>
        </p:nvSpPr>
        <p:spPr>
          <a:xfrm>
            <a:off x="8357616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1" name="Shape 58"/>
          <p:cNvSpPr/>
          <p:nvPr/>
        </p:nvSpPr>
        <p:spPr>
          <a:xfrm>
            <a:off x="8522208" y="341071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526280" y="3557016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4736592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4901184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5065776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6" name="Shape 63"/>
          <p:cNvSpPr/>
          <p:nvPr/>
        </p:nvSpPr>
        <p:spPr>
          <a:xfrm>
            <a:off x="5230368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7" name="Shape 64"/>
          <p:cNvSpPr/>
          <p:nvPr/>
        </p:nvSpPr>
        <p:spPr>
          <a:xfrm>
            <a:off x="5394960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5559552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69" name="Shape 66"/>
          <p:cNvSpPr/>
          <p:nvPr/>
        </p:nvSpPr>
        <p:spPr>
          <a:xfrm>
            <a:off x="5724144" y="3575304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70" name="Shape 67"/>
          <p:cNvSpPr/>
          <p:nvPr/>
        </p:nvSpPr>
        <p:spPr>
          <a:xfrm>
            <a:off x="5888736" y="3575304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1" name="Shape 68"/>
          <p:cNvSpPr/>
          <p:nvPr/>
        </p:nvSpPr>
        <p:spPr>
          <a:xfrm>
            <a:off x="6053328" y="3575304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72" name="Shape 69"/>
          <p:cNvSpPr/>
          <p:nvPr/>
        </p:nvSpPr>
        <p:spPr>
          <a:xfrm>
            <a:off x="6217920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6382512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4" name="Shape 71"/>
          <p:cNvSpPr/>
          <p:nvPr/>
        </p:nvSpPr>
        <p:spPr>
          <a:xfrm>
            <a:off x="6547104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5" name="Shape 72"/>
          <p:cNvSpPr/>
          <p:nvPr/>
        </p:nvSpPr>
        <p:spPr>
          <a:xfrm>
            <a:off x="6711696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6" name="Shape 73"/>
          <p:cNvSpPr/>
          <p:nvPr/>
        </p:nvSpPr>
        <p:spPr>
          <a:xfrm>
            <a:off x="6876288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7" name="Shape 74"/>
          <p:cNvSpPr/>
          <p:nvPr/>
        </p:nvSpPr>
        <p:spPr>
          <a:xfrm>
            <a:off x="7040880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8" name="Shape 75"/>
          <p:cNvSpPr/>
          <p:nvPr/>
        </p:nvSpPr>
        <p:spPr>
          <a:xfrm>
            <a:off x="7205472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79" name="Shape 76"/>
          <p:cNvSpPr/>
          <p:nvPr/>
        </p:nvSpPr>
        <p:spPr>
          <a:xfrm>
            <a:off x="7370064" y="3575304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80" name="Shape 77"/>
          <p:cNvSpPr/>
          <p:nvPr/>
        </p:nvSpPr>
        <p:spPr>
          <a:xfrm>
            <a:off x="7534656" y="3575304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81" name="Shape 78"/>
          <p:cNvSpPr/>
          <p:nvPr/>
        </p:nvSpPr>
        <p:spPr>
          <a:xfrm>
            <a:off x="7699248" y="3575304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2" name="Shape 79"/>
          <p:cNvSpPr/>
          <p:nvPr/>
        </p:nvSpPr>
        <p:spPr>
          <a:xfrm>
            <a:off x="7863840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3" name="Shape 80"/>
          <p:cNvSpPr/>
          <p:nvPr/>
        </p:nvSpPr>
        <p:spPr>
          <a:xfrm>
            <a:off x="8028432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4" name="Shape 81"/>
          <p:cNvSpPr/>
          <p:nvPr/>
        </p:nvSpPr>
        <p:spPr>
          <a:xfrm>
            <a:off x="8193024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5" name="Shape 82"/>
          <p:cNvSpPr/>
          <p:nvPr/>
        </p:nvSpPr>
        <p:spPr>
          <a:xfrm>
            <a:off x="8357616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6" name="Shape 83"/>
          <p:cNvSpPr/>
          <p:nvPr/>
        </p:nvSpPr>
        <p:spPr>
          <a:xfrm>
            <a:off x="8522208" y="3575304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7" name="Text 84"/>
          <p:cNvSpPr/>
          <p:nvPr/>
        </p:nvSpPr>
        <p:spPr>
          <a:xfrm>
            <a:off x="4526280" y="3721608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800" dirty="0"/>
          </a:p>
        </p:txBody>
      </p:sp>
      <p:sp>
        <p:nvSpPr>
          <p:cNvPr id="88" name="Shape 85"/>
          <p:cNvSpPr/>
          <p:nvPr/>
        </p:nvSpPr>
        <p:spPr>
          <a:xfrm>
            <a:off x="4736592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89" name="Shape 86"/>
          <p:cNvSpPr/>
          <p:nvPr/>
        </p:nvSpPr>
        <p:spPr>
          <a:xfrm>
            <a:off x="4901184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0" name="Shape 87"/>
          <p:cNvSpPr/>
          <p:nvPr/>
        </p:nvSpPr>
        <p:spPr>
          <a:xfrm>
            <a:off x="5065776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1" name="Shape 88"/>
          <p:cNvSpPr/>
          <p:nvPr/>
        </p:nvSpPr>
        <p:spPr>
          <a:xfrm>
            <a:off x="5230368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2" name="Shape 89"/>
          <p:cNvSpPr/>
          <p:nvPr/>
        </p:nvSpPr>
        <p:spPr>
          <a:xfrm>
            <a:off x="5394960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3" name="Shape 90"/>
          <p:cNvSpPr/>
          <p:nvPr/>
        </p:nvSpPr>
        <p:spPr>
          <a:xfrm>
            <a:off x="5559552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94" name="Shape 91"/>
          <p:cNvSpPr/>
          <p:nvPr/>
        </p:nvSpPr>
        <p:spPr>
          <a:xfrm>
            <a:off x="5724144" y="3739896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95" name="Shape 92"/>
          <p:cNvSpPr/>
          <p:nvPr/>
        </p:nvSpPr>
        <p:spPr>
          <a:xfrm>
            <a:off x="5888736" y="3739896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96" name="Shape 93"/>
          <p:cNvSpPr/>
          <p:nvPr/>
        </p:nvSpPr>
        <p:spPr>
          <a:xfrm>
            <a:off x="6053328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7" name="Shape 94"/>
          <p:cNvSpPr/>
          <p:nvPr/>
        </p:nvSpPr>
        <p:spPr>
          <a:xfrm>
            <a:off x="6217920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8" name="Shape 95"/>
          <p:cNvSpPr/>
          <p:nvPr/>
        </p:nvSpPr>
        <p:spPr>
          <a:xfrm>
            <a:off x="6382512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99" name="Shape 96"/>
          <p:cNvSpPr/>
          <p:nvPr/>
        </p:nvSpPr>
        <p:spPr>
          <a:xfrm>
            <a:off x="6547104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0" name="Shape 97"/>
          <p:cNvSpPr/>
          <p:nvPr/>
        </p:nvSpPr>
        <p:spPr>
          <a:xfrm>
            <a:off x="6711696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1" name="Shape 98"/>
          <p:cNvSpPr/>
          <p:nvPr/>
        </p:nvSpPr>
        <p:spPr>
          <a:xfrm>
            <a:off x="6876288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2" name="Shape 99"/>
          <p:cNvSpPr/>
          <p:nvPr/>
        </p:nvSpPr>
        <p:spPr>
          <a:xfrm>
            <a:off x="7040880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3" name="Shape 100"/>
          <p:cNvSpPr/>
          <p:nvPr/>
        </p:nvSpPr>
        <p:spPr>
          <a:xfrm>
            <a:off x="7205472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4" name="Shape 101"/>
          <p:cNvSpPr/>
          <p:nvPr/>
        </p:nvSpPr>
        <p:spPr>
          <a:xfrm>
            <a:off x="7370064" y="3739896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05" name="Shape 102"/>
          <p:cNvSpPr/>
          <p:nvPr/>
        </p:nvSpPr>
        <p:spPr>
          <a:xfrm>
            <a:off x="7534656" y="3739896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6" name="Shape 103"/>
          <p:cNvSpPr/>
          <p:nvPr/>
        </p:nvSpPr>
        <p:spPr>
          <a:xfrm>
            <a:off x="7699248" y="3739896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07" name="Shape 104"/>
          <p:cNvSpPr/>
          <p:nvPr/>
        </p:nvSpPr>
        <p:spPr>
          <a:xfrm>
            <a:off x="7863840" y="3739896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08" name="Shape 105"/>
          <p:cNvSpPr/>
          <p:nvPr/>
        </p:nvSpPr>
        <p:spPr>
          <a:xfrm>
            <a:off x="8028432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09" name="Shape 106"/>
          <p:cNvSpPr/>
          <p:nvPr/>
        </p:nvSpPr>
        <p:spPr>
          <a:xfrm>
            <a:off x="8193024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0" name="Shape 107"/>
          <p:cNvSpPr/>
          <p:nvPr/>
        </p:nvSpPr>
        <p:spPr>
          <a:xfrm>
            <a:off x="8357616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1" name="Shape 108"/>
          <p:cNvSpPr/>
          <p:nvPr/>
        </p:nvSpPr>
        <p:spPr>
          <a:xfrm>
            <a:off x="8522208" y="3739896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2" name="Text 109"/>
          <p:cNvSpPr/>
          <p:nvPr/>
        </p:nvSpPr>
        <p:spPr>
          <a:xfrm>
            <a:off x="4526280" y="3886200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</a:t>
            </a:r>
            <a:endParaRPr lang="en-US" sz="800" dirty="0"/>
          </a:p>
        </p:txBody>
      </p:sp>
      <p:sp>
        <p:nvSpPr>
          <p:cNvPr id="113" name="Shape 110"/>
          <p:cNvSpPr/>
          <p:nvPr/>
        </p:nvSpPr>
        <p:spPr>
          <a:xfrm>
            <a:off x="4736592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4" name="Shape 111"/>
          <p:cNvSpPr/>
          <p:nvPr/>
        </p:nvSpPr>
        <p:spPr>
          <a:xfrm>
            <a:off x="4901184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5" name="Shape 112"/>
          <p:cNvSpPr/>
          <p:nvPr/>
        </p:nvSpPr>
        <p:spPr>
          <a:xfrm>
            <a:off x="5065776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6" name="Shape 113"/>
          <p:cNvSpPr/>
          <p:nvPr/>
        </p:nvSpPr>
        <p:spPr>
          <a:xfrm>
            <a:off x="5230368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7" name="Shape 114"/>
          <p:cNvSpPr/>
          <p:nvPr/>
        </p:nvSpPr>
        <p:spPr>
          <a:xfrm>
            <a:off x="5394960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8" name="Shape 115"/>
          <p:cNvSpPr/>
          <p:nvPr/>
        </p:nvSpPr>
        <p:spPr>
          <a:xfrm>
            <a:off x="5559552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19" name="Shape 116"/>
          <p:cNvSpPr/>
          <p:nvPr/>
        </p:nvSpPr>
        <p:spPr>
          <a:xfrm>
            <a:off x="5724144" y="3904488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20" name="Shape 117"/>
          <p:cNvSpPr/>
          <p:nvPr/>
        </p:nvSpPr>
        <p:spPr>
          <a:xfrm>
            <a:off x="5888736" y="3904488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21" name="Shape 118"/>
          <p:cNvSpPr/>
          <p:nvPr/>
        </p:nvSpPr>
        <p:spPr>
          <a:xfrm>
            <a:off x="6053328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2" name="Shape 119"/>
          <p:cNvSpPr/>
          <p:nvPr/>
        </p:nvSpPr>
        <p:spPr>
          <a:xfrm>
            <a:off x="6217920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3" name="Shape 120"/>
          <p:cNvSpPr/>
          <p:nvPr/>
        </p:nvSpPr>
        <p:spPr>
          <a:xfrm>
            <a:off x="6382512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4" name="Shape 121"/>
          <p:cNvSpPr/>
          <p:nvPr/>
        </p:nvSpPr>
        <p:spPr>
          <a:xfrm>
            <a:off x="6547104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5" name="Shape 122"/>
          <p:cNvSpPr/>
          <p:nvPr/>
        </p:nvSpPr>
        <p:spPr>
          <a:xfrm>
            <a:off x="6711696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6" name="Shape 123"/>
          <p:cNvSpPr/>
          <p:nvPr/>
        </p:nvSpPr>
        <p:spPr>
          <a:xfrm>
            <a:off x="6876288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7" name="Shape 124"/>
          <p:cNvSpPr/>
          <p:nvPr/>
        </p:nvSpPr>
        <p:spPr>
          <a:xfrm>
            <a:off x="7040880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8" name="Shape 125"/>
          <p:cNvSpPr/>
          <p:nvPr/>
        </p:nvSpPr>
        <p:spPr>
          <a:xfrm>
            <a:off x="7205472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29" name="Shape 126"/>
          <p:cNvSpPr/>
          <p:nvPr/>
        </p:nvSpPr>
        <p:spPr>
          <a:xfrm>
            <a:off x="7370064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0" name="Shape 127"/>
          <p:cNvSpPr/>
          <p:nvPr/>
        </p:nvSpPr>
        <p:spPr>
          <a:xfrm>
            <a:off x="7534656" y="3904488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31" name="Shape 128"/>
          <p:cNvSpPr/>
          <p:nvPr/>
        </p:nvSpPr>
        <p:spPr>
          <a:xfrm>
            <a:off x="7699248" y="3904488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2" name="Shape 129"/>
          <p:cNvSpPr/>
          <p:nvPr/>
        </p:nvSpPr>
        <p:spPr>
          <a:xfrm>
            <a:off x="7863840" y="3904488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33" name="Shape 130"/>
          <p:cNvSpPr/>
          <p:nvPr/>
        </p:nvSpPr>
        <p:spPr>
          <a:xfrm>
            <a:off x="8028432" y="3904488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34" name="Shape 131"/>
          <p:cNvSpPr/>
          <p:nvPr/>
        </p:nvSpPr>
        <p:spPr>
          <a:xfrm>
            <a:off x="8193024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5" name="Shape 132"/>
          <p:cNvSpPr/>
          <p:nvPr/>
        </p:nvSpPr>
        <p:spPr>
          <a:xfrm>
            <a:off x="8357616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6" name="Shape 133"/>
          <p:cNvSpPr/>
          <p:nvPr/>
        </p:nvSpPr>
        <p:spPr>
          <a:xfrm>
            <a:off x="8522208" y="3904488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7" name="Text 134"/>
          <p:cNvSpPr/>
          <p:nvPr/>
        </p:nvSpPr>
        <p:spPr>
          <a:xfrm>
            <a:off x="4526280" y="4050792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138" name="Shape 135"/>
          <p:cNvSpPr/>
          <p:nvPr/>
        </p:nvSpPr>
        <p:spPr>
          <a:xfrm>
            <a:off x="4736592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39" name="Shape 136"/>
          <p:cNvSpPr/>
          <p:nvPr/>
        </p:nvSpPr>
        <p:spPr>
          <a:xfrm>
            <a:off x="4901184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0" name="Shape 137"/>
          <p:cNvSpPr/>
          <p:nvPr/>
        </p:nvSpPr>
        <p:spPr>
          <a:xfrm>
            <a:off x="5065776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1" name="Shape 138"/>
          <p:cNvSpPr/>
          <p:nvPr/>
        </p:nvSpPr>
        <p:spPr>
          <a:xfrm>
            <a:off x="5230368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2" name="Shape 139"/>
          <p:cNvSpPr/>
          <p:nvPr/>
        </p:nvSpPr>
        <p:spPr>
          <a:xfrm>
            <a:off x="5394960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5559552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44" name="Shape 141"/>
          <p:cNvSpPr/>
          <p:nvPr/>
        </p:nvSpPr>
        <p:spPr>
          <a:xfrm>
            <a:off x="5724144" y="4069080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45" name="Shape 142"/>
          <p:cNvSpPr/>
          <p:nvPr/>
        </p:nvSpPr>
        <p:spPr>
          <a:xfrm>
            <a:off x="5888736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6053328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7" name="Shape 144"/>
          <p:cNvSpPr/>
          <p:nvPr/>
        </p:nvSpPr>
        <p:spPr>
          <a:xfrm>
            <a:off x="6217920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8" name="Shape 145"/>
          <p:cNvSpPr/>
          <p:nvPr/>
        </p:nvSpPr>
        <p:spPr>
          <a:xfrm>
            <a:off x="6382512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6547104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0" name="Shape 147"/>
          <p:cNvSpPr/>
          <p:nvPr/>
        </p:nvSpPr>
        <p:spPr>
          <a:xfrm>
            <a:off x="6711696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1" name="Shape 148"/>
          <p:cNvSpPr/>
          <p:nvPr/>
        </p:nvSpPr>
        <p:spPr>
          <a:xfrm>
            <a:off x="6876288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7040880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3" name="Shape 150"/>
          <p:cNvSpPr/>
          <p:nvPr/>
        </p:nvSpPr>
        <p:spPr>
          <a:xfrm>
            <a:off x="7205472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4" name="Shape 151"/>
          <p:cNvSpPr/>
          <p:nvPr/>
        </p:nvSpPr>
        <p:spPr>
          <a:xfrm>
            <a:off x="7370064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7534656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7699248" y="4069080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7863840" y="4069080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8" name="Shape 155"/>
          <p:cNvSpPr/>
          <p:nvPr/>
        </p:nvSpPr>
        <p:spPr>
          <a:xfrm>
            <a:off x="8028432" y="4069080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59" name="Shape 156"/>
          <p:cNvSpPr/>
          <p:nvPr/>
        </p:nvSpPr>
        <p:spPr>
          <a:xfrm>
            <a:off x="8193024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0" name="Shape 157"/>
          <p:cNvSpPr/>
          <p:nvPr/>
        </p:nvSpPr>
        <p:spPr>
          <a:xfrm>
            <a:off x="8357616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1" name="Shape 158"/>
          <p:cNvSpPr/>
          <p:nvPr/>
        </p:nvSpPr>
        <p:spPr>
          <a:xfrm>
            <a:off x="8522208" y="4069080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2" name="Text 159"/>
          <p:cNvSpPr/>
          <p:nvPr/>
        </p:nvSpPr>
        <p:spPr>
          <a:xfrm>
            <a:off x="4526280" y="4215384"/>
            <a:ext cx="182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endParaRPr lang="en-US" sz="800" dirty="0"/>
          </a:p>
        </p:txBody>
      </p:sp>
      <p:sp>
        <p:nvSpPr>
          <p:cNvPr id="163" name="Shape 160"/>
          <p:cNvSpPr/>
          <p:nvPr/>
        </p:nvSpPr>
        <p:spPr>
          <a:xfrm>
            <a:off x="4736592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4" name="Shape 161"/>
          <p:cNvSpPr/>
          <p:nvPr/>
        </p:nvSpPr>
        <p:spPr>
          <a:xfrm>
            <a:off x="4901184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5" name="Shape 162"/>
          <p:cNvSpPr/>
          <p:nvPr/>
        </p:nvSpPr>
        <p:spPr>
          <a:xfrm>
            <a:off x="5065776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6" name="Shape 163"/>
          <p:cNvSpPr/>
          <p:nvPr/>
        </p:nvSpPr>
        <p:spPr>
          <a:xfrm>
            <a:off x="5230368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7" name="Shape 164"/>
          <p:cNvSpPr/>
          <p:nvPr/>
        </p:nvSpPr>
        <p:spPr>
          <a:xfrm>
            <a:off x="5394960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8" name="Shape 165"/>
          <p:cNvSpPr/>
          <p:nvPr/>
        </p:nvSpPr>
        <p:spPr>
          <a:xfrm>
            <a:off x="5559552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69" name="Shape 166"/>
          <p:cNvSpPr/>
          <p:nvPr/>
        </p:nvSpPr>
        <p:spPr>
          <a:xfrm>
            <a:off x="5724144" y="4233672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70" name="Shape 167"/>
          <p:cNvSpPr/>
          <p:nvPr/>
        </p:nvSpPr>
        <p:spPr>
          <a:xfrm>
            <a:off x="5888736" y="4233672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1" name="Shape 168"/>
          <p:cNvSpPr/>
          <p:nvPr/>
        </p:nvSpPr>
        <p:spPr>
          <a:xfrm>
            <a:off x="6053328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2" name="Shape 169"/>
          <p:cNvSpPr/>
          <p:nvPr/>
        </p:nvSpPr>
        <p:spPr>
          <a:xfrm>
            <a:off x="6217920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3" name="Shape 170"/>
          <p:cNvSpPr/>
          <p:nvPr/>
        </p:nvSpPr>
        <p:spPr>
          <a:xfrm>
            <a:off x="6382512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4" name="Shape 171"/>
          <p:cNvSpPr/>
          <p:nvPr/>
        </p:nvSpPr>
        <p:spPr>
          <a:xfrm>
            <a:off x="6547104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5" name="Shape 172"/>
          <p:cNvSpPr/>
          <p:nvPr/>
        </p:nvSpPr>
        <p:spPr>
          <a:xfrm>
            <a:off x="6711696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6" name="Shape 173"/>
          <p:cNvSpPr/>
          <p:nvPr/>
        </p:nvSpPr>
        <p:spPr>
          <a:xfrm>
            <a:off x="6876288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7" name="Shape 174"/>
          <p:cNvSpPr/>
          <p:nvPr/>
        </p:nvSpPr>
        <p:spPr>
          <a:xfrm>
            <a:off x="7040880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8" name="Shape 175"/>
          <p:cNvSpPr/>
          <p:nvPr/>
        </p:nvSpPr>
        <p:spPr>
          <a:xfrm>
            <a:off x="7205472" y="4233672"/>
            <a:ext cx="155448" cy="14630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179" name="Shape 176"/>
          <p:cNvSpPr/>
          <p:nvPr/>
        </p:nvSpPr>
        <p:spPr>
          <a:xfrm>
            <a:off x="7370064" y="4233672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0" name="Shape 177"/>
          <p:cNvSpPr/>
          <p:nvPr/>
        </p:nvSpPr>
        <p:spPr>
          <a:xfrm>
            <a:off x="7534656" y="4233672"/>
            <a:ext cx="155448" cy="146304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81" name="Shape 178"/>
          <p:cNvSpPr/>
          <p:nvPr/>
        </p:nvSpPr>
        <p:spPr>
          <a:xfrm>
            <a:off x="7699248" y="4233672"/>
            <a:ext cx="155448" cy="146304"/>
          </a:xfrm>
          <a:prstGeom prst="rect">
            <a:avLst/>
          </a:prstGeom>
          <a:solidFill>
            <a:srgbClr val="C7D2FE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182" name="Shape 179"/>
          <p:cNvSpPr/>
          <p:nvPr/>
        </p:nvSpPr>
        <p:spPr>
          <a:xfrm>
            <a:off x="7863840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3" name="Shape 180"/>
          <p:cNvSpPr/>
          <p:nvPr/>
        </p:nvSpPr>
        <p:spPr>
          <a:xfrm>
            <a:off x="8028432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4" name="Shape 181"/>
          <p:cNvSpPr/>
          <p:nvPr/>
        </p:nvSpPr>
        <p:spPr>
          <a:xfrm>
            <a:off x="8193024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5" name="Shape 182"/>
          <p:cNvSpPr/>
          <p:nvPr/>
        </p:nvSpPr>
        <p:spPr>
          <a:xfrm>
            <a:off x="8357616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6" name="Shape 183"/>
          <p:cNvSpPr/>
          <p:nvPr/>
        </p:nvSpPr>
        <p:spPr>
          <a:xfrm>
            <a:off x="8522208" y="4233672"/>
            <a:ext cx="155448" cy="146304"/>
          </a:xfrm>
          <a:prstGeom prst="rect">
            <a:avLst/>
          </a:prstGeom>
          <a:solidFill>
            <a:srgbClr val="F1F5F9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187" name="Text 184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  <p:sp>
        <p:nvSpPr>
          <p:cNvPr id="188" name="Text 185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1200">
        <p159:morph option="byObject"/>
      </p:transition>
    </mc:Choice>
    <mc:Fallback>
      <p:transition xmlns:p14="http://schemas.microsoft.com/office/powerpoint/2010/main" spd="med" p14:dur="800">
        <p:fade/>
      </p:transition>
    </mc:Fallback>
  </mc:AlternateContent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MACHINE LEARNING (1/2)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Apriori finds the patterns hiding in 1,500+ reservations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13551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Association rule mining (mlxtend)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1920240"/>
            <a:ext cx="4572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reservation is encoded as a transaction of features (equipment, weekday, duration tier). Apriori discovers high-confidence rules.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29260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Pull confirmed/completed reservations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32186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Encode features into a binary matrix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51129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Apriori → frequent itemsets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380390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Generate rules + confidence + lift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02920" y="40965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Sort, paginate, surface in UI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349240" y="123444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577840" y="14173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RULE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5577840" y="17373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Two-post Lift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5577840" y="21945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➔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5577840" y="2560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over 4 h</a:t>
            </a:r>
            <a:endParaRPr lang="en-US" sz="1800" dirty="0"/>
          </a:p>
        </p:txBody>
      </p:sp>
      <p:sp>
        <p:nvSpPr>
          <p:cNvPr id="20" name="Shape 17"/>
          <p:cNvSpPr/>
          <p:nvPr/>
        </p:nvSpPr>
        <p:spPr>
          <a:xfrm>
            <a:off x="5577840" y="3200400"/>
            <a:ext cx="2834640" cy="18288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577840" y="33375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5577840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2600" dirty="0"/>
          </a:p>
        </p:txBody>
      </p:sp>
      <p:sp>
        <p:nvSpPr>
          <p:cNvPr id="23" name="Text 20"/>
          <p:cNvSpPr/>
          <p:nvPr/>
        </p:nvSpPr>
        <p:spPr>
          <a:xfrm>
            <a:off x="7132320" y="3337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132320" y="3520440"/>
            <a:ext cx="1280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2600" dirty="0"/>
          </a:p>
        </p:txBody>
      </p:sp>
      <p:sp>
        <p:nvSpPr>
          <p:cNvPr id="25" name="Text 22"/>
          <p:cNvSpPr/>
          <p:nvPr/>
        </p:nvSpPr>
        <p:spPr>
          <a:xfrm>
            <a:off x="5577840" y="39776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“When a garage has a Two-post Lift, there is an 80% chance the reservation runs longer than 4 h.”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1200">
        <p159:morph option="byObject"/>
      </p:transition>
    </mc:Choice>
    <mc:Fallback>
      <p:transition xmlns:p14="http://schemas.microsoft.com/office/powerpoint/2010/main" spd="med" p14:dur="800">
        <p:fade/>
      </p:transition>
    </mc:Fallback>
  </mc:AlternateContent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MACHINE LEARNING (2/2)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predicts cancellation vs success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13551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prediction (scikit-learn)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502920" y="192024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 learns from confirmed vs cancelled reservations. Matplotlib renders the tree to PNG and the API returns a base64 data-URI for direct display.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315468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02920" y="3429000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02920" y="3429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week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1920240" y="3429000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920240" y="3429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hour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337560" y="3429000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37560" y="342900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Has: Two-post Lift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02920" y="3794760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02920" y="3794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Has: Service Pit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1920240" y="3794760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920240" y="3794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Has: MIG/MAG Welder</a:t>
            </a:r>
            <a:endParaRPr lang="en-US" sz="900" dirty="0"/>
          </a:p>
        </p:txBody>
      </p:sp>
      <p:sp>
        <p:nvSpPr>
          <p:cNvPr id="21" name="Shape 18"/>
          <p:cNvSpPr/>
          <p:nvPr/>
        </p:nvSpPr>
        <p:spPr>
          <a:xfrm>
            <a:off x="3337560" y="3794760"/>
            <a:ext cx="1325880" cy="274320"/>
          </a:xfrm>
          <a:prstGeom prst="roundRect">
            <a:avLst>
              <a:gd name="adj" fmla="val 13333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337560" y="3794760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349240" y="1280160"/>
            <a:ext cx="3291840" cy="315468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6309360" y="1554480"/>
            <a:ext cx="137160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309360" y="155448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 ≤ 17 ?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 flipH="1">
            <a:off x="5897880" y="1965960"/>
            <a:ext cx="73152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360920" y="1965960"/>
            <a:ext cx="73152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486400" y="246888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486400" y="2468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 lift ?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223760" y="2468880"/>
            <a:ext cx="1280160" cy="411480"/>
          </a:xfrm>
          <a:prstGeom prst="roundRect">
            <a:avLst>
              <a:gd name="adj" fmla="val 13333"/>
            </a:avLst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7223760" y="246888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?</a:t>
            </a:r>
            <a:endParaRPr lang="en-US" sz="900" dirty="0"/>
          </a:p>
        </p:txBody>
      </p:sp>
      <p:sp>
        <p:nvSpPr>
          <p:cNvPr id="32" name="Shape 29"/>
          <p:cNvSpPr/>
          <p:nvPr/>
        </p:nvSpPr>
        <p:spPr>
          <a:xfrm flipH="1">
            <a:off x="5715000" y="2880360"/>
            <a:ext cx="18288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00800" y="2880360"/>
            <a:ext cx="27432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 flipH="1">
            <a:off x="7360920" y="2880360"/>
            <a:ext cx="27432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92440" y="2880360"/>
            <a:ext cx="182880" cy="5029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440680" y="3383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440680" y="33832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6400800" y="3383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6400800" y="33832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</a:t>
            </a:r>
            <a:endParaRPr lang="en-US" sz="900" dirty="0"/>
          </a:p>
        </p:txBody>
      </p:sp>
      <p:sp>
        <p:nvSpPr>
          <p:cNvPr id="40" name="Shape 37"/>
          <p:cNvSpPr/>
          <p:nvPr/>
        </p:nvSpPr>
        <p:spPr>
          <a:xfrm>
            <a:off x="7132320" y="3383280"/>
            <a:ext cx="777240" cy="365760"/>
          </a:xfrm>
          <a:prstGeom prst="roundRect">
            <a:avLst>
              <a:gd name="adj" fmla="val 15000"/>
            </a:avLst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7132320" y="3383280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900" dirty="0"/>
          </a:p>
        </p:txBody>
      </p:sp>
      <p:sp>
        <p:nvSpPr>
          <p:cNvPr id="42" name="Shape 39"/>
          <p:cNvSpPr/>
          <p:nvPr/>
        </p:nvSpPr>
        <p:spPr>
          <a:xfrm>
            <a:off x="8092440" y="3383280"/>
            <a:ext cx="457200" cy="365760"/>
          </a:xfrm>
          <a:prstGeom prst="roundRect">
            <a:avLst>
              <a:gd name="adj" fmla="val 15000"/>
            </a:avLst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8092440" y="3383280"/>
            <a:ext cx="45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5532120" y="38862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Plus: dataset is exportable to CSV (Export Data button).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  <p:sp>
        <p:nvSpPr>
          <p:cNvPr id="46" name="Text 43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1200">
        <p159:morph option="byObject"/>
      </p:transition>
    </mc:Choice>
    <mc:Fallback>
      <p:transition xmlns:p14="http://schemas.microsoft.com/office/powerpoint/2010/main" spd="med" p14:dur="800">
        <p:fade/>
      </p:transition>
    </mc:Fallback>
  </mc:AlternateContent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SANDBOX MODE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Re-run ML on any dataset without touching the database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34440"/>
            <a:ext cx="548640" cy="548640"/>
          </a:xfrm>
          <a:prstGeom prst="roundRect">
            <a:avLst>
              <a:gd name="adj" fmla="val 13333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3621" y="13551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280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simulation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502920" y="1920240"/>
            <a:ext cx="4206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external reservation history (or your own export). The same ML pipeline runs in-memory; the database stays untouched.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310896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502920" y="342900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Demo with sample data without polluting production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02920" y="374904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Compare two months by uploading each one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02920" y="40690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Try ML on a synthetic dataset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029200" y="1234440"/>
            <a:ext cx="3657600" cy="3200400"/>
          </a:xfrm>
          <a:prstGeom prst="roundRect">
            <a:avLst>
              <a:gd name="adj" fmla="val 3429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212080" y="1417320"/>
            <a:ext cx="3291840" cy="502920"/>
          </a:xfrm>
          <a:prstGeom prst="roundRect">
            <a:avLst>
              <a:gd name="adj" fmla="val 10909"/>
            </a:avLst>
          </a:prstGeom>
          <a:solidFill>
            <a:srgbClr val="FEF3C7"/>
          </a:solidFill>
          <a:ln w="9525">
            <a:solidFill>
              <a:srgbClr val="FCD34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349240" y="14173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Preview / Simulation Mode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5212080" y="2194560"/>
            <a:ext cx="3291840" cy="411480"/>
          </a:xfrm>
          <a:prstGeom prst="roundRect">
            <a:avLst>
              <a:gd name="adj" fmla="val 11111"/>
            </a:avLst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303520" y="2240280"/>
            <a:ext cx="320040" cy="320040"/>
          </a:xfrm>
          <a:prstGeom prst="roundRect">
            <a:avLst>
              <a:gd name="adj" fmla="val 22857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3929" y="2310689"/>
            <a:ext cx="179222" cy="17922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715000" y="2194560"/>
            <a:ext cx="2697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reservations_2025_10.csv  ·  342 rows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212080" y="27432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EEF2FF"/>
          </a:solidFill>
          <a:ln w="6350">
            <a:solidFill>
              <a:srgbClr val="C7D2FE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30352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530352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€11,330</a:t>
            </a:r>
            <a:endParaRPr lang="en-US" sz="1800" dirty="0"/>
          </a:p>
        </p:txBody>
      </p:sp>
      <p:sp>
        <p:nvSpPr>
          <p:cNvPr id="24" name="Shape 20"/>
          <p:cNvSpPr/>
          <p:nvPr/>
        </p:nvSpPr>
        <p:spPr>
          <a:xfrm>
            <a:off x="6858000" y="2743200"/>
            <a:ext cx="1554480" cy="914400"/>
          </a:xfrm>
          <a:prstGeom prst="roundRect">
            <a:avLst>
              <a:gd name="adj" fmla="val 8000"/>
            </a:avLst>
          </a:prstGeom>
          <a:solidFill>
            <a:srgbClr val="ECFDF5"/>
          </a:solidFill>
          <a:ln w="6350">
            <a:solidFill>
              <a:srgbClr val="A7F3D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949440" y="2788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0478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 RATE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6949440" y="30175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82%</a:t>
            </a:r>
            <a:endParaRPr lang="en-US" sz="2200" dirty="0"/>
          </a:p>
        </p:txBody>
      </p:sp>
      <p:sp>
        <p:nvSpPr>
          <p:cNvPr id="27" name="Shape 23"/>
          <p:cNvSpPr/>
          <p:nvPr/>
        </p:nvSpPr>
        <p:spPr>
          <a:xfrm>
            <a:off x="5212080" y="3794760"/>
            <a:ext cx="3291840" cy="411480"/>
          </a:xfrm>
          <a:prstGeom prst="roundRect">
            <a:avLst>
              <a:gd name="adj" fmla="val 1333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5212080" y="37947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 to Database</a:t>
            </a:r>
            <a:endParaRPr lang="en-US" sz="1200" dirty="0"/>
          </a:p>
        </p:txBody>
      </p:sp>
      <p:sp>
        <p:nvSpPr>
          <p:cNvPr id="29" name="Text 25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1200">
        <p159:morph option="byObject"/>
      </p:transition>
    </mc:Choice>
    <mc:Fallback>
      <p:transition xmlns:p14="http://schemas.microsoft.com/office/powerpoint/2010/main" spd="med" p14:dur="800">
        <p:fade/>
      </p:transition>
    </mc:Fallback>
  </mc:AlternateContent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Logo"/>
          <p:cNvSpPr/>
          <p:nvPr/>
        </p:nvSpPr>
        <p:spPr>
          <a:xfrm>
            <a:off x="411480" y="320040"/>
            <a:ext cx="365760" cy="36576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GLogoText"/>
          <p:cNvSpPr/>
          <p:nvPr/>
        </p:nvSpPr>
        <p:spPr>
          <a:xfrm>
            <a:off x="411480" y="320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120" dirty="0"/>
          </a:p>
        </p:txBody>
      </p:sp>
      <p:sp>
        <p:nvSpPr>
          <p:cNvPr id="4" name="Text 2"/>
          <p:cNvSpPr/>
          <p:nvPr/>
        </p:nvSpPr>
        <p:spPr>
          <a:xfrm>
            <a:off x="914400" y="292608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· QUALITY &amp; TOOLING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914400" y="47548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is part of the project, not an afterthought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128016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85800" y="1508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8580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passing unit tests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97480" y="128016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880360" y="150876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.env.local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2880360" y="205740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secrets, never committed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2920" y="269748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85800" y="2926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UI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85800" y="3474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API contract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697480" y="269748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52400" dist="38100" dir="5400000">
              <a:srgbClr val="0F172A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880360" y="2926080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script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2880360" y="347472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install &amp; run from scratch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120640" y="1280160"/>
            <a:ext cx="3566160" cy="3200400"/>
          </a:xfrm>
          <a:prstGeom prst="roundRect">
            <a:avLst>
              <a:gd name="adj" fmla="val 342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508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178308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verify</a:t>
            </a:r>
            <a:endParaRPr lang="en-US" sz="18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0" y="2322576"/>
            <a:ext cx="146304" cy="14630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5623560" y="22494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Registration &amp; login endpoints</a:t>
            </a:r>
            <a:endParaRPr lang="en-US" sz="1100" dirty="0"/>
          </a:p>
        </p:txBody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2596896"/>
            <a:ext cx="146304" cy="146304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5623560" y="25237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authentication</a:t>
            </a:r>
            <a:endParaRPr lang="en-US" sz="11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2871216"/>
            <a:ext cx="146304" cy="146304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5623560" y="279806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guard — role escalation blocked</a:t>
            </a:r>
            <a:endParaRPr lang="en-US" sz="1100" dirty="0"/>
          </a:p>
        </p:txBody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3145536"/>
            <a:ext cx="146304" cy="146304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5623560" y="307238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number required on signup</a:t>
            </a:r>
            <a:endParaRPr lang="en-US" sz="1100" dirty="0"/>
          </a:p>
        </p:txBody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94960" y="3419856"/>
            <a:ext cx="146304" cy="146304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5623560" y="334670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 overlap detection</a:t>
            </a:r>
            <a:endParaRPr lang="en-US" sz="11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94960" y="3694176"/>
            <a:ext cx="146304" cy="14630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623560" y="362102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Past-date reservations rejected</a:t>
            </a:r>
            <a:endParaRPr lang="en-US" sz="11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94960" y="3968496"/>
            <a:ext cx="146304" cy="146304"/>
          </a:xfrm>
          <a:prstGeom prst="rect">
            <a:avLst/>
          </a:prstGeom>
        </p:spPr>
      </p:pic>
      <p:sp>
        <p:nvSpPr>
          <p:cNvPr id="34" name="Text 25"/>
          <p:cNvSpPr/>
          <p:nvPr/>
        </p:nvSpPr>
        <p:spPr>
          <a:xfrm>
            <a:off x="5623560" y="3895344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pricing calculation</a:t>
            </a:r>
            <a:endParaRPr lang="en-US" sz="1100" dirty="0"/>
          </a:p>
        </p:txBody>
      </p:sp>
      <p:sp>
        <p:nvSpPr>
          <p:cNvPr id="35" name="Text 26"/>
          <p:cNvSpPr/>
          <p:nvPr/>
        </p:nvSpPr>
        <p:spPr>
          <a:xfrm>
            <a:off x="8229600" y="475488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  <p:sp>
        <p:nvSpPr>
          <p:cNvPr id="36" name="Text 27"/>
          <p:cNvSpPr/>
          <p:nvPr/>
        </p:nvSpPr>
        <p:spPr>
          <a:xfrm>
            <a:off x="411480" y="47548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Garage OnDemand</a:t>
            </a:r>
            <a:endParaRPr lang="en-US" sz="900" dirty="0"/>
          </a:p>
        </p:txBody>
      </p:sp>
    </p:spTree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1200">
        <p159:morph option="byObject"/>
      </p:transition>
    </mc:Choice>
    <mc:Fallback>
      <p:transition xmlns:p14="http://schemas.microsoft.com/office/powerpoint/2010/main" spd="med" p14:dur="800">
        <p:fade/>
      </p:transition>
    </mc:Fallback>
  </mc:AlternateContent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4572000"/>
          </a:xfrm>
          <a:prstGeom prst="ellipse">
            <a:avLst/>
          </a:prstGeom>
          <a:solidFill>
            <a:srgbClr val="4F46E5">
              <a:alpha val="20000"/>
            </a:srgbClr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7C3AED">
              <a:alpha val="25000"/>
            </a:srgbClr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069080" y="1005840"/>
            <a:ext cx="1005840" cy="1005840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069080" y="10058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02920" y="2240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50292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 Or — let me run a live demo.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371600" y="397764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474720" y="39776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github.com/xtfee/GarageOnDemand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42702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LOGIN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474720" y="427024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/ admin  ·  client1 / password123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4562856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CARD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74720" y="456285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4242 4242 4242 4242  ·  any future date · any CVC</a:t>
            </a:r>
            <a:endParaRPr lang="en-US" sz="1100" dirty="0"/>
          </a:p>
        </p:txBody>
      </p:sp>
    </p:spTree>
  </p:cSld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med" p14:dur="1200">
        <p159:morph option="byObject"/>
      </p:transition>
    </mc:Choice>
    <mc:Fallback>
      <p:transition xmlns:p14="http://schemas.microsoft.com/office/powerpoint/2010/main" spd="med" p14:dur="800">
        <p:fade/>
      </p:transition>
    </mc:Fallback>
  </mc:AlternateContent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Garage OnDemand</dc:title>
  <dc:subject>PptxGenJS Presentation</dc:subject>
  <dc:creator>xtfee</dc:creator>
  <cp:lastModifiedBy>xtfee</cp:lastModifiedBy>
  <cp:revision>1</cp:revision>
  <dcterms:created xsi:type="dcterms:W3CDTF">2026-05-28T21:40:02Z</dcterms:created>
  <dcterms:modified xsi:type="dcterms:W3CDTF">2026-05-28T21:40:02Z</dcterms:modified>
</cp:coreProperties>
</file>